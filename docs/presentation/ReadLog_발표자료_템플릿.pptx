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B9C2BB"/>
                </a:solidFill>
                <a:latin typeface="IBM Plex Mono"/>
              </a:rPr>
              <a:t>SESAC TEAM 5 · PROJECT DEMO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411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B9C2BB"/>
                </a:solidFill>
                <a:latin typeface="IBM Plex Mono"/>
              </a:rPr>
              <a:t>01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>
                <a:solidFill>
                  <a:srgbClr val="FDFBF4"/>
                </a:solidFill>
                <a:latin typeface="Noto Serif KR"/>
              </a:rPr>
              <a:t>Read</a:t>
            </a:r>
            <a:r>
              <a:rPr sz="7200" b="1">
                <a:solidFill>
                  <a:srgbClr val="22C55E"/>
                </a:solidFill>
                <a:latin typeface="Noto Serif KR"/>
              </a:rPr>
              <a:t>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FDFBF4"/>
                </a:solidFill>
                <a:latin typeface="Noto Serif KR"/>
              </a:rPr>
              <a:t>혼자 읽고, 함께 나누는 독서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B9C2BB"/>
                </a:solidFill>
                <a:latin typeface="IBM Plex Mono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DFBF4"/>
                </a:solidFill>
                <a:latin typeface="IBM Plex Mono"/>
              </a:rPr>
              <a:t>2026.07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5852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B9C2BB"/>
                </a:solidFill>
                <a:latin typeface="IBM Plex Mono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6126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DFBF4"/>
                </a:solidFill>
                <a:latin typeface="IBM Plex Mono"/>
              </a:rPr>
              <a:t>REACT NATIVE · FASTAPI · MYSQL ·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58521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B9C2BB"/>
                </a:solidFill>
                <a:latin typeface="IBM Plex Mono"/>
              </a:rPr>
              <a:t>발표자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6126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DFBF4"/>
                </a:solidFill>
                <a:latin typeface="IBM Plex Mono"/>
              </a:rPr>
              <a:t>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E9E8A"/>
                </a:solidFill>
                <a:latin typeface="IBM Plex Mono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411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E9E8A"/>
                </a:solidFill>
                <a:latin typeface="IBM Plex Mono"/>
              </a:rPr>
              <a:t>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C1A16"/>
                </a:solidFill>
                <a:latin typeface="Noto Serif KR"/>
              </a:rP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41448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83080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C1A16"/>
                </a:solidFill>
                <a:latin typeface="Noto Serif KR"/>
              </a:rPr>
              <a:t>기획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83080"/>
            <a:ext cx="46908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E9E8A"/>
                </a:solidFill>
                <a:latin typeface="IBM Plex Sans KR"/>
              </a:rPr>
              <a:t>왜 만들었는가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99816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8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41448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C1A16"/>
                </a:solidFill>
                <a:latin typeface="Noto Serif KR"/>
              </a:rPr>
              <a:t>핵심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41448"/>
            <a:ext cx="46908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E9E8A"/>
                </a:solidFill>
                <a:latin typeface="IBM Plex Sans KR"/>
              </a:rPr>
              <a:t>개인 기록 × 소셜 독서모임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58184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99816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99816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C1A16"/>
                </a:solidFill>
                <a:latin typeface="Noto Serif KR"/>
              </a:rPr>
              <a:t>화면 흐름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99816"/>
            <a:ext cx="46908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E9E8A"/>
                </a:solidFill>
                <a:latin typeface="IBM Plex Sans KR"/>
              </a:rPr>
              <a:t>사용자 여정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16552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58184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58184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C1A16"/>
                </a:solidFill>
                <a:latin typeface="Noto Serif KR"/>
              </a:rPr>
              <a:t>기술 스택 &amp; 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58184"/>
            <a:ext cx="46908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E9E8A"/>
                </a:solidFill>
                <a:latin typeface="IBM Plex Sans KR"/>
              </a:rPr>
              <a:t>어떻게 만들었는가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74920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16552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IBM Plex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16552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C1A16"/>
                </a:solidFill>
                <a:latin typeface="Noto Serif KR"/>
              </a:rPr>
              <a:t>팀 구성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16552"/>
            <a:ext cx="46908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E9E8A"/>
                </a:solidFill>
                <a:latin typeface="IBM Plex Sans KR"/>
              </a:rPr>
              <a:t>누가 무엇을 맡았는가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733288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640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IBM Plex Mon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74920"/>
            <a:ext cx="5486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C1A16"/>
                </a:solidFill>
                <a:latin typeface="Noto Serif KR"/>
              </a:rPr>
              <a:t>마무리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074920"/>
            <a:ext cx="469087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E9E8A"/>
                </a:solidFill>
                <a:latin typeface="IBM Plex Sans KR"/>
              </a:rPr>
              <a:t>회고와 다음 단계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1783080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E9E8A"/>
                </a:solidFill>
                <a:latin typeface="IBM Plex Mono"/>
              </a:rPr>
              <a:t>01 —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411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E9E8A"/>
                </a:solidFill>
                <a:latin typeface="IBM Plex Mono"/>
              </a:rPr>
              <a:t>03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2D4A3E"/>
                </a:solidFill>
                <a:latin typeface="Noto Serif KR"/>
              </a:rPr>
              <a:t>읽다가 멈추는 이유는,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2D4A3E"/>
                </a:solidFill>
                <a:latin typeface="Noto Serif KR"/>
              </a:rPr>
              <a:t>대부분 '기록'이 없기 때문이었다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3429000" cy="1737360"/>
          </a:xfrm>
          <a:prstGeom prst="rect">
            <a:avLst/>
          </a:prstGeom>
          <a:solidFill>
            <a:srgbClr val="E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73405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D4A3E"/>
                </a:solidFill>
                <a:latin typeface="IBM Plex Mono"/>
              </a:rPr>
              <a:t>완독률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08960"/>
            <a:ext cx="2916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4B473C"/>
                </a:solidFill>
                <a:latin typeface="IBM Plex Sans KR"/>
              </a:rPr>
              <a:t>다 읽은 책보다 읽다 만 책이 서재에 더 많이 쌓인다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2514600"/>
            <a:ext cx="3429000" cy="1737360"/>
          </a:xfrm>
          <a:prstGeom prst="rect">
            <a:avLst/>
          </a:prstGeom>
          <a:solidFill>
            <a:srgbClr val="E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73405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D4A3E"/>
                </a:solidFill>
                <a:latin typeface="IBM Plex Mono"/>
              </a:rPr>
              <a:t>기록 단절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08960"/>
            <a:ext cx="2916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4B473C"/>
                </a:solidFill>
                <a:latin typeface="IBM Plex Sans KR"/>
              </a:rPr>
              <a:t>어디까지 읽었는지, 다시 찾는 것부터 번거롭다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0416" y="2514600"/>
            <a:ext cx="3429000" cy="1737360"/>
          </a:xfrm>
          <a:prstGeom prst="rect">
            <a:avLst/>
          </a:prstGeom>
          <a:solidFill>
            <a:srgbClr val="ED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73405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D4A3E"/>
                </a:solidFill>
                <a:latin typeface="IBM Plex Mono"/>
              </a:rPr>
              <a:t>동기 저하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108960"/>
            <a:ext cx="2916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4B473C"/>
                </a:solidFill>
                <a:latin typeface="IBM Plex Sans KR"/>
              </a:rPr>
              <a:t>같이 읽는 사람이 없으면 완독까지 이어지지 않는다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D4A3E"/>
                </a:solidFill>
                <a:latin typeface="Noto Serif KR"/>
              </a:rPr>
              <a:t>ReadLog는 </a:t>
            </a:r>
            <a:r>
              <a:rPr sz="1900" b="1">
                <a:solidFill>
                  <a:srgbClr val="22C55E"/>
                </a:solidFill>
                <a:latin typeface="Noto Serif KR"/>
              </a:rPr>
              <a:t>개인의 독서 기록</a:t>
            </a:r>
            <a:r>
              <a:rPr sz="1900" b="1">
                <a:solidFill>
                  <a:srgbClr val="2D4A3E"/>
                </a:solidFill>
                <a:latin typeface="Noto Serif KR"/>
              </a:rPr>
              <a:t>과 </a:t>
            </a:r>
            <a:r>
              <a:rPr sz="1900" b="1">
                <a:solidFill>
                  <a:srgbClr val="22C55E"/>
                </a:solidFill>
                <a:latin typeface="Noto Serif KR"/>
              </a:rPr>
              <a:t>소셜 독서모임</a:t>
            </a:r>
            <a:r>
              <a:rPr sz="1900" b="1">
                <a:solidFill>
                  <a:srgbClr val="2D4A3E"/>
                </a:solidFill>
                <a:latin typeface="Noto Serif KR"/>
              </a:rPr>
              <a:t>을 하나의 흐름으로 연결한다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B9C2BB"/>
                </a:solidFill>
                <a:latin typeface="IBM Plex Mono"/>
              </a:rPr>
              <a:t>02 —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411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B9C2BB"/>
                </a:solidFill>
                <a:latin typeface="IBM Plex Mono"/>
              </a:rPr>
              <a:t>04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DFBF4"/>
                </a:solidFill>
                <a:latin typeface="Noto Serif KR"/>
              </a:rPr>
              <a:t>개인의 기록에서,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FDFBF4"/>
                </a:solidFill>
                <a:latin typeface="Noto Serif KR"/>
              </a:rPr>
              <a:t>함께 읽는 동력으로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5257800" cy="3703320"/>
          </a:xfrm>
          <a:prstGeom prst="rect">
            <a:avLst/>
          </a:prstGeom>
          <a:noFill/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2C55E"/>
                </a:solidFill>
                <a:latin typeface="IBM Plex Mono"/>
              </a:rPr>
              <a:t>PERSONAL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DFBF4"/>
                </a:solidFill>
                <a:latin typeface="Noto Serif KR"/>
              </a:rPr>
              <a:t>개인 독서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4617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50" b="0">
                <a:solidFill>
                  <a:srgbClr val="22C55E"/>
                </a:solidFill>
                <a:latin typeface="IBM Plex Sans KR"/>
              </a:rPr>
              <a:t>■  </a:t>
            </a:r>
            <a:r>
              <a:rPr sz="1350" b="0">
                <a:solidFill>
                  <a:srgbClr val="E3E0D3"/>
                </a:solidFill>
                <a:latin typeface="IBM Plex Sans KR"/>
              </a:rPr>
              <a:t>책 검색 및 서재 등록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50" b="0">
                <a:solidFill>
                  <a:srgbClr val="22C55E"/>
                </a:solidFill>
                <a:latin typeface="IBM Plex Sans KR"/>
              </a:rPr>
              <a:t>■  </a:t>
            </a:r>
            <a:r>
              <a:rPr sz="1350" b="0">
                <a:solidFill>
                  <a:srgbClr val="E3E0D3"/>
                </a:solidFill>
                <a:latin typeface="IBM Plex Sans KR"/>
              </a:rPr>
              <a:t>읽는 중 · 완독 상태 관리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50" b="0">
                <a:solidFill>
                  <a:srgbClr val="22C55E"/>
                </a:solidFill>
                <a:latin typeface="IBM Plex Sans KR"/>
              </a:rPr>
              <a:t>■  </a:t>
            </a:r>
            <a:r>
              <a:rPr sz="1350" b="0">
                <a:solidFill>
                  <a:srgbClr val="E3E0D3"/>
                </a:solidFill>
                <a:latin typeface="IBM Plex Sans KR"/>
              </a:rPr>
              <a:t>진도 입력과 한줄평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50" b="0">
                <a:solidFill>
                  <a:srgbClr val="22C55E"/>
                </a:solidFill>
                <a:latin typeface="IBM Plex Sans KR"/>
              </a:rPr>
              <a:t>■  </a:t>
            </a:r>
            <a:r>
              <a:rPr sz="1350" b="0">
                <a:solidFill>
                  <a:srgbClr val="E3E0D3"/>
                </a:solidFill>
                <a:latin typeface="IBM Plex Sans KR"/>
              </a:rPr>
              <a:t>SNS 공유 카드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2468880"/>
            <a:ext cx="5257800" cy="3703320"/>
          </a:xfrm>
          <a:prstGeom prst="rect">
            <a:avLst/>
          </a:prstGeom>
          <a:noFill/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74320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2C55E"/>
                </a:solidFill>
                <a:latin typeface="IBM Plex Mono"/>
              </a:rPr>
              <a:t>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090672"/>
            <a:ext cx="4617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FDFBF4"/>
                </a:solidFill>
                <a:latin typeface="Noto Serif KR"/>
              </a:rPr>
              <a:t>소셜 독서모임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3794760"/>
            <a:ext cx="4617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50" b="0">
                <a:solidFill>
                  <a:srgbClr val="22C55E"/>
                </a:solidFill>
                <a:latin typeface="IBM Plex Sans KR"/>
              </a:rPr>
              <a:t>■  </a:t>
            </a:r>
            <a:r>
              <a:rPr sz="1350" b="0">
                <a:solidFill>
                  <a:srgbClr val="E3E0D3"/>
                </a:solidFill>
                <a:latin typeface="IBM Plex Sans KR"/>
              </a:rPr>
              <a:t>모임 개설 및 참가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50" b="0">
                <a:solidFill>
                  <a:srgbClr val="22C55E"/>
                </a:solidFill>
                <a:latin typeface="IBM Plex Sans KR"/>
              </a:rPr>
              <a:t>■  </a:t>
            </a:r>
            <a:r>
              <a:rPr sz="1350" b="0">
                <a:solidFill>
                  <a:srgbClr val="E3E0D3"/>
                </a:solidFill>
                <a:latin typeface="IBM Plex Sans KR"/>
              </a:rPr>
              <a:t>멤버별 진도 현황판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50" b="0">
                <a:solidFill>
                  <a:srgbClr val="22C55E"/>
                </a:solidFill>
                <a:latin typeface="IBM Plex Sans KR"/>
              </a:rPr>
              <a:t>■  </a:t>
            </a:r>
            <a:r>
              <a:rPr sz="1350" b="0">
                <a:solidFill>
                  <a:srgbClr val="E3E0D3"/>
                </a:solidFill>
                <a:latin typeface="IBM Plex Sans KR"/>
              </a:rPr>
              <a:t>스포일러 방지 댓글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50" b="0">
                <a:solidFill>
                  <a:srgbClr val="22C55E"/>
                </a:solidFill>
                <a:latin typeface="IBM Plex Sans KR"/>
              </a:rPr>
              <a:t>■  </a:t>
            </a:r>
            <a:r>
              <a:rPr sz="1350" b="0">
                <a:solidFill>
                  <a:srgbClr val="E3E0D3"/>
                </a:solidFill>
                <a:latin typeface="IBM Plex Sans KR"/>
              </a:rPr>
              <a:t>초대 코드 · 링크 공유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E9E8A"/>
                </a:solidFill>
                <a:latin typeface="IBM Plex Mono"/>
              </a:rPr>
              <a:t>03 —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411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E9E8A"/>
                </a:solidFill>
                <a:latin typeface="IBM Plex Mono"/>
              </a:rPr>
              <a:t>05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D4A3E"/>
                </a:solidFill>
                <a:latin typeface="Noto Serif KR"/>
              </a:rPr>
              <a:t>핵심 사용자 여정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9556" y="1783080"/>
            <a:ext cx="2331720" cy="2834640"/>
          </a:xfrm>
          <a:prstGeom prst="rect">
            <a:avLst/>
          </a:prstGeom>
          <a:solidFill>
            <a:srgbClr val="EDE7D8"/>
          </a:solidFill>
          <a:ln w="1587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556" y="3063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E9E8A"/>
                </a:solidFill>
                <a:latin typeface="IBM Plex Mono"/>
              </a:rPr>
              <a:t>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" y="472744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1A16"/>
                </a:solidFill>
                <a:latin typeface="IBM Plex Sans KR"/>
              </a:rPr>
              <a:t>책 검색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25596" y="1783080"/>
            <a:ext cx="2331720" cy="2834640"/>
          </a:xfrm>
          <a:prstGeom prst="rect">
            <a:avLst/>
          </a:prstGeom>
          <a:solidFill>
            <a:srgbClr val="EDE7D8"/>
          </a:solidFill>
          <a:ln w="1587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5596" y="3063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E9E8A"/>
                </a:solidFill>
                <a:latin typeface="IBM Plex Mono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5596" y="472744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1A16"/>
                </a:solidFill>
                <a:latin typeface="IBM Plex Sans KR"/>
              </a:rPr>
              <a:t>내 서재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2331720" cy="2834640"/>
          </a:xfrm>
          <a:prstGeom prst="rect">
            <a:avLst/>
          </a:prstGeom>
          <a:solidFill>
            <a:srgbClr val="EDE7D8"/>
          </a:solidFill>
          <a:ln w="1587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1636" y="3063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E9E8A"/>
                </a:solidFill>
                <a:latin typeface="IBM Plex Mono"/>
              </a:rPr>
              <a:t>SCREENSHOT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472744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1A16"/>
                </a:solidFill>
                <a:latin typeface="IBM Plex Sans KR"/>
              </a:rPr>
              <a:t>진도 입력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37676" y="1783080"/>
            <a:ext cx="2331720" cy="2834640"/>
          </a:xfrm>
          <a:prstGeom prst="rect">
            <a:avLst/>
          </a:prstGeom>
          <a:solidFill>
            <a:srgbClr val="EDE7D8"/>
          </a:solidFill>
          <a:ln w="1587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7676" y="30632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E9E8A"/>
                </a:solidFill>
                <a:latin typeface="IBM Plex Mono"/>
              </a:rPr>
              <a:t>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7676" y="472744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1A16"/>
                </a:solidFill>
                <a:latin typeface="IBM Plex Sans KR"/>
              </a:rPr>
              <a:t>SNS 공유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2576" y="5074920"/>
            <a:ext cx="2331720" cy="2834640"/>
          </a:xfrm>
          <a:prstGeom prst="rect">
            <a:avLst/>
          </a:prstGeom>
          <a:solidFill>
            <a:srgbClr val="EDE7D8"/>
          </a:solidFill>
          <a:ln w="1587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22576" y="63550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E9E8A"/>
                </a:solidFill>
                <a:latin typeface="IBM Plex Mono"/>
              </a:rPr>
              <a:t>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2576" y="801928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1A16"/>
                </a:solidFill>
                <a:latin typeface="IBM Plex Sans KR"/>
              </a:rPr>
              <a:t>모임 목록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28616" y="5074920"/>
            <a:ext cx="2331720" cy="2834640"/>
          </a:xfrm>
          <a:prstGeom prst="rect">
            <a:avLst/>
          </a:prstGeom>
          <a:solidFill>
            <a:srgbClr val="EDE7D8"/>
          </a:solidFill>
          <a:ln w="1587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8616" y="63550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E9E8A"/>
                </a:solidFill>
                <a:latin typeface="IBM Plex Mono"/>
              </a:rPr>
              <a:t>SCREENSHOT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8616" y="801928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1A16"/>
                </a:solidFill>
                <a:latin typeface="IBM Plex Sans KR"/>
              </a:rPr>
              <a:t>모임 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34656" y="5074920"/>
            <a:ext cx="2331720" cy="2834640"/>
          </a:xfrm>
          <a:prstGeom prst="rect">
            <a:avLst/>
          </a:prstGeom>
          <a:solidFill>
            <a:srgbClr val="EDE7D8"/>
          </a:solidFill>
          <a:ln w="1587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4656" y="63550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9E9E8A"/>
                </a:solidFill>
                <a:latin typeface="IBM Plex Mono"/>
              </a:rPr>
              <a:t>SCREENSHOT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801928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C1A16"/>
                </a:solidFill>
                <a:latin typeface="IBM Plex Sans KR"/>
              </a:rPr>
              <a:t>댓글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E9E8A"/>
                </a:solidFill>
                <a:latin typeface="IBM Plex Mono"/>
              </a:rPr>
              <a:t>04 —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411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E9E8A"/>
                </a:solidFill>
                <a:latin typeface="IBM Plex Mono"/>
              </a:rPr>
              <a:t>06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D4A3E"/>
                </a:solidFill>
                <a:latin typeface="Noto Serif KR"/>
              </a:rPr>
              <a:t>무엇으로 만들었는가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50592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D4A3E"/>
                </a:solidFill>
                <a:latin typeface="IBM Plex Mono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8229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C1A16"/>
                </a:solidFill>
                <a:latin typeface="IBM Plex Sans KR"/>
              </a:rPr>
              <a:t>React Native (TypeScript)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72384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D4A3E"/>
                </a:solidFill>
                <a:latin typeface="IBM Plex Mono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450592"/>
            <a:ext cx="8229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C1A16"/>
                </a:solidFill>
                <a:latin typeface="IBM Plex Sans KR"/>
              </a:rPr>
              <a:t>FastAPI (Python)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94176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72384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D4A3E"/>
                </a:solidFill>
                <a:latin typeface="IBM Plex Mono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072384"/>
            <a:ext cx="8229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C1A16"/>
                </a:solidFill>
                <a:latin typeface="IBM Plex Sans KR"/>
              </a:rPr>
              <a:t>MySQL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15968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94176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D4A3E"/>
                </a:solidFill>
                <a:latin typeface="IBM Plex Mono"/>
              </a:rPr>
              <a:t>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694176"/>
            <a:ext cx="8229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C1A16"/>
                </a:solidFill>
                <a:latin typeface="IBM Plex Sans KR"/>
              </a:rPr>
              <a:t>Redis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15968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D4A3E"/>
                </a:solidFill>
                <a:latin typeface="IBM Plex Mono"/>
              </a:rPr>
              <a:t>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315968"/>
            <a:ext cx="8229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C1A16"/>
                </a:solidFill>
                <a:latin typeface="IBM Plex Sans KR"/>
              </a:rPr>
              <a:t>Expo Dev Client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559552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21945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D4A3E"/>
                </a:solidFill>
                <a:latin typeface="IBM Plex Mono"/>
              </a:rPr>
              <a:t>형상관리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37760"/>
            <a:ext cx="8229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C1A16"/>
                </a:solidFill>
                <a:latin typeface="IBM Plex Sans KR"/>
              </a:rPr>
              <a:t>Git · GitHub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828800"/>
            <a:ext cx="10908792" cy="1"/>
          </a:xfrm>
          <a:prstGeom prst="rect">
            <a:avLst/>
          </a:prstGeom>
          <a:noFill/>
          <a:ln w="9525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B9C2BB"/>
                </a:solidFill>
                <a:latin typeface="IBM Plex Mono"/>
              </a:rPr>
              <a:t>04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411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B9C2BB"/>
                </a:solidFill>
                <a:latin typeface="IBM Plex Mono"/>
              </a:rPr>
              <a:t>07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300" b="1">
                <a:solidFill>
                  <a:srgbClr val="FDFBF4"/>
                </a:solidFill>
                <a:latin typeface="Noto Serif KR"/>
              </a:rPr>
              <a:t>디렉토리 경계로 나눈 3인 병렬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B9C2BB"/>
                </a:solidFill>
                <a:latin typeface="IBM Plex Sans KR"/>
              </a:rPr>
              <a:t>브랜치 충돌을 막기 위해, 담당 모듈 밖의 파일은 서로 건드리지 않는 것을 원칙으로 삼았다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520440" cy="3017520"/>
          </a:xfrm>
          <a:prstGeom prst="rect">
            <a:avLst/>
          </a:prstGeom>
          <a:noFill/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621792" cy="2926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E332B"/>
                </a:solidFill>
                <a:latin typeface="IBM Plex Mono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DFBF4"/>
                </a:solidFill>
                <a:latin typeface="Noto Serif KR"/>
              </a:rPr>
              <a:t>로그인 · 마이페이지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3E0D3"/>
                </a:solidFill>
                <a:latin typeface="IBM Plex Sans KR"/>
              </a:rPr>
              <a:t>로그인, 회원가입, 프로필 수정, 비밀번호 변경, 회원탈퇴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2286000"/>
            <a:ext cx="3520440" cy="3017520"/>
          </a:xfrm>
          <a:prstGeom prst="rect">
            <a:avLst/>
          </a:prstGeom>
          <a:noFill/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8576" y="2560320"/>
            <a:ext cx="1353312" cy="2926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587752"/>
            <a:ext cx="13533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E332B"/>
                </a:solidFill>
                <a:latin typeface="IBM Plex Mono"/>
              </a:rPr>
              <a:t>READING_PLAN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0632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DFBF4"/>
                </a:solidFill>
                <a:latin typeface="Noto Serif KR"/>
              </a:rPr>
              <a:t>책과 진도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56616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3E0D3"/>
                </a:solidFill>
                <a:latin typeface="IBM Plex Sans KR"/>
              </a:rPr>
              <a:t>책 검색, 내 서재, 진도 입력, 한줄평, SNS 공유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2286000"/>
            <a:ext cx="3520440" cy="3017520"/>
          </a:xfrm>
          <a:prstGeom prst="rect">
            <a:avLst/>
          </a:prstGeom>
          <a:noFill/>
          <a:ln w="12700">
            <a:solidFill>
              <a:srgbClr val="4A63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2560320"/>
            <a:ext cx="1444752" cy="2926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587752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E332B"/>
                </a:solidFill>
                <a:latin typeface="IBM Plex Mono"/>
              </a:rPr>
              <a:t>READING_GROUP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06324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FDFBF4"/>
                </a:solidFill>
                <a:latin typeface="Noto Serif KR"/>
              </a:rPr>
              <a:t>독서모임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6616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3E0D3"/>
                </a:solidFill>
                <a:latin typeface="IBM Plex Sans KR"/>
              </a:rPr>
              <a:t>모임 개설·참가, 진도 현황판, 스포일러 방지 댓글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B9C2BB"/>
                </a:solidFill>
                <a:latin typeface="IBM Plex Mono"/>
              </a:rPr>
              <a:t>users · books · user_library · reading_groups · reading_progress · group_comments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9E9E8A"/>
                </a:solidFill>
                <a:latin typeface="IBM Plex Mono"/>
              </a:rPr>
              <a:t>05 —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411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9E9E8A"/>
                </a:solidFill>
                <a:latin typeface="IBM Plex Mono"/>
              </a:rPr>
              <a:t>08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D4A3E"/>
                </a:solidFill>
                <a:latin typeface="Noto Serif KR"/>
              </a:rPr>
              <a:t>팀 구성 및 역할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520440" cy="3840480"/>
          </a:xfrm>
          <a:prstGeom prst="rect">
            <a:avLst/>
          </a:prstGeom>
          <a:noFill/>
          <a:ln w="12700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48839"/>
            <a:ext cx="621792" cy="292608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76271"/>
            <a:ext cx="621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FDFBF4"/>
                </a:solidFill>
                <a:latin typeface="IBM Plex Mono"/>
              </a:rPr>
              <a:t>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19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9E9E8A"/>
                </a:solidFill>
                <a:latin typeface="Noto Serif KR"/>
              </a:rPr>
              <a:t>이름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72967"/>
            <a:ext cx="2971800" cy="1"/>
          </a:xfrm>
          <a:prstGeom prst="rect">
            <a:avLst/>
          </a:prstGeom>
          <a:noFill/>
          <a:ln w="952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00" b="0">
                <a:solidFill>
                  <a:srgbClr val="4B473C"/>
                </a:solidFill>
                <a:latin typeface="IBM Plex Sans KR"/>
              </a:rPr>
              <a:t>로그인, 회원가입, 마이페이지, 프로필 수정, 비밀번호 변경, 회원탈퇴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1874519"/>
            <a:ext cx="3520440" cy="3840480"/>
          </a:xfrm>
          <a:prstGeom prst="rect">
            <a:avLst/>
          </a:prstGeom>
          <a:noFill/>
          <a:ln w="12700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8576" y="2148839"/>
            <a:ext cx="1353312" cy="292608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176271"/>
            <a:ext cx="13533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FDFBF4"/>
                </a:solidFill>
                <a:latin typeface="IBM Plex Mono"/>
              </a:rPr>
              <a:t>READING_PLAN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74319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9E9E8A"/>
                </a:solidFill>
                <a:latin typeface="Noto Serif KR"/>
              </a:rPr>
              <a:t>이름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8576" y="3172967"/>
            <a:ext cx="2971800" cy="1"/>
          </a:xfrm>
          <a:prstGeom prst="rect">
            <a:avLst/>
          </a:prstGeom>
          <a:noFill/>
          <a:ln w="952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3383279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00" b="0">
                <a:solidFill>
                  <a:srgbClr val="4B473C"/>
                </a:solidFill>
                <a:latin typeface="IBM Plex Sans KR"/>
              </a:rPr>
              <a:t>책 검색, 책 상세/등록, 내 서재, 독서 진도 입력, 한줄평, SNS 공유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28432" y="1874519"/>
            <a:ext cx="3520440" cy="3840480"/>
          </a:xfrm>
          <a:prstGeom prst="rect">
            <a:avLst/>
          </a:prstGeom>
          <a:noFill/>
          <a:ln w="12700">
            <a:solidFill>
              <a:srgbClr val="E3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2148839"/>
            <a:ext cx="1444752" cy="292608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176271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FDFBF4"/>
                </a:solidFill>
                <a:latin typeface="IBM Plex Mono"/>
              </a:rPr>
              <a:t>READING_GROUP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743199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9E9E8A"/>
                </a:solidFill>
                <a:latin typeface="Noto Serif KR"/>
              </a:rPr>
              <a:t>이름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3172967"/>
            <a:ext cx="2971800" cy="1"/>
          </a:xfrm>
          <a:prstGeom prst="rect">
            <a:avLst/>
          </a:prstGeom>
          <a:noFill/>
          <a:ln w="9525">
            <a:solidFill>
              <a:srgbClr val="9E9E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3383279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00" b="0">
                <a:solidFill>
                  <a:srgbClr val="4B473C"/>
                </a:solidFill>
                <a:latin typeface="IBM Plex Sans KR"/>
              </a:rPr>
              <a:t>독서모임 목록/개설/참가, 모임 홈, 멤버 초대, 진도 공유, 공유 책 댓글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B9C2BB"/>
                </a:solidFill>
                <a:latin typeface="IBM Plex Mono"/>
              </a:rPr>
              <a:t>06 —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2815" y="4114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B9C2BB"/>
                </a:solidFill>
                <a:latin typeface="IBM Plex Mono"/>
              </a:rPr>
              <a:t>09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800" b="1">
                <a:solidFill>
                  <a:srgbClr val="FDFBF4"/>
                </a:solidFill>
                <a:latin typeface="Noto Serif KR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E3E0D3"/>
                </a:solidFill>
                <a:latin typeface="IBM Plex Sans KR"/>
              </a:rPr>
              <a:t>질문과 피드백을 기다립니다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B9C2BB"/>
                </a:solidFill>
                <a:latin typeface="IBM Plex Mono"/>
              </a:rPr>
              <a:t>GITHUB.COM/SESAC-TEAM5/READLOG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